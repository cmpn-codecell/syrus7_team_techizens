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cc6f00d-4929-2080-67ff-75b93b68ae24}">
          <p14:sldIdLst>
            <p14:sldId id="256"/>
            <p14:sldId id="257"/>
          </p14:sldIdLst>
        </p14:section>
        <p14:section name="Flowcharts" id="{36c16971-d67e-15f5-f4a5-7293e31c0dde}">
          <p14:sldIdLst>
            <p14:sldId id="258"/>
            <p14:sldId id="259"/>
            <p14:sldId id="260"/>
          </p14:sldIdLst>
        </p14:section>
        <p14:section name="Plan" id="{eba876be-bc98-084c-cd59-8d00ac535ca2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phases from planning to polish. Status in this deck follows docs/PROJECT_STATUS.md (2026-10-09).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is taken from docs/PROJECT_STATUS.md dated 2026-10-09. Done = built and working; Partly = some of it is live; Remaining = not started.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Follows the POC: decoupled scoring (relevance vs eligibility), trust layer, Change Sentinel, Squad Hub with double opt-in, and the handoff to the organizer's website. Nexus never applies for the student.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Ingestion runs on a server or by hand with the service-role key, never in the browser. Devpost and Unstop are read from their public endpoints. A database trigger, not the script, writes the change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backend call lives in one small file under src/api, so each can be switched from mock to Supabase independently. Status from docs/PROJECT_STATUS.md.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lanes, as in CONTRIBUTING.md: the backend developer owns Supabase and src/api; the frontend developer owns screens. Deployment host is not decided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Nexus  |  Implementation plan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 title"/>
          <p:cNvSpPr txBox="1"/>
          <p:nvPr/>
        </p:nvSpPr>
        <p:spPr>
          <a:xfrm>
            <a:off x="731520" y="1371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Nexus</a:t>
            </a:r>
            <a:endParaRPr lang="en-US" sz="6600" dirty="0"/>
          </a:p>
        </p:txBody>
      </p:sp>
      <p:sp>
        <p:nvSpPr>
          <p:cNvPr id="3" name="Deck subtitle"/>
          <p:cNvSpPr txBox="1"/>
          <p:nvPr/>
        </p:nvSpPr>
        <p:spPr>
          <a:xfrm>
            <a:off x="731520" y="24231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bg1"/>
                </a:solidFill>
              </a:rPr>
              <a:t>Implementation plan: flowcharts</a:t>
            </a:r>
            <a:endParaRPr lang="en-US" sz="3200" dirty="0"/>
          </a:p>
        </p:txBody>
      </p:sp>
      <p:sp>
        <p:nvSpPr>
          <p:cNvPr id="4" name="Deck tagline"/>
          <p:cNvSpPr txBox="1"/>
          <p:nvPr/>
        </p:nvSpPr>
        <p:spPr>
          <a:xfrm>
            <a:off x="73152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Verified opportunity discovery and squad matching for college students. Team TechiZens, Syrus 2026.</a:t>
            </a:r>
            <a:endParaRPr lang="en-US" sz="1800" dirty="0"/>
          </a:p>
        </p:txBody>
      </p:sp>
      <p:sp>
        <p:nvSpPr>
          <p:cNvPr id="5" name="Phase 1 marker"/>
          <p:cNvSpPr/>
          <p:nvPr/>
        </p:nvSpPr>
        <p:spPr>
          <a:xfrm>
            <a:off x="731520" y="4572000"/>
            <a:ext cx="640080" cy="6400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Phase 1 name"/>
          <p:cNvSpPr txBox="1"/>
          <p:nvPr/>
        </p:nvSpPr>
        <p:spPr>
          <a:xfrm>
            <a:off x="1481328" y="4572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Plan</a:t>
            </a:r>
            <a:endParaRPr lang="en-US" sz="1600" dirty="0"/>
          </a:p>
        </p:txBody>
      </p:sp>
      <p:sp>
        <p:nvSpPr>
          <p:cNvPr id="7" name="Phase 2 marker"/>
          <p:cNvSpPr/>
          <p:nvPr/>
        </p:nvSpPr>
        <p:spPr>
          <a:xfrm>
            <a:off x="2560320" y="4572000"/>
            <a:ext cx="640080" cy="6400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Phase 2 name"/>
          <p:cNvSpPr txBox="1"/>
          <p:nvPr/>
        </p:nvSpPr>
        <p:spPr>
          <a:xfrm>
            <a:off x="3310128" y="4572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Frontend</a:t>
            </a:r>
            <a:endParaRPr lang="en-US" sz="1600" dirty="0"/>
          </a:p>
        </p:txBody>
      </p:sp>
      <p:sp>
        <p:nvSpPr>
          <p:cNvPr id="9" name="Phase 3 marker"/>
          <p:cNvSpPr/>
          <p:nvPr/>
        </p:nvSpPr>
        <p:spPr>
          <a:xfrm>
            <a:off x="4389120" y="4572000"/>
            <a:ext cx="640080" cy="6400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0" name="Phase 3 name"/>
          <p:cNvSpPr txBox="1"/>
          <p:nvPr/>
        </p:nvSpPr>
        <p:spPr>
          <a:xfrm>
            <a:off x="5138928" y="4572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Backend</a:t>
            </a:r>
            <a:endParaRPr lang="en-US" sz="1600" dirty="0"/>
          </a:p>
        </p:txBody>
      </p:sp>
      <p:sp>
        <p:nvSpPr>
          <p:cNvPr id="11" name="Phase 4 marker"/>
          <p:cNvSpPr/>
          <p:nvPr/>
        </p:nvSpPr>
        <p:spPr>
          <a:xfrm>
            <a:off x="6217920" y="4572000"/>
            <a:ext cx="640080" cy="6400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2" name="Phase 4 name"/>
          <p:cNvSpPr txBox="1"/>
          <p:nvPr/>
        </p:nvSpPr>
        <p:spPr>
          <a:xfrm>
            <a:off x="6967728" y="4572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Connect</a:t>
            </a:r>
            <a:endParaRPr lang="en-US" sz="1600" dirty="0"/>
          </a:p>
        </p:txBody>
      </p:sp>
      <p:sp>
        <p:nvSpPr>
          <p:cNvPr id="13" name="Phase 5 marker"/>
          <p:cNvSpPr/>
          <p:nvPr/>
        </p:nvSpPr>
        <p:spPr>
          <a:xfrm>
            <a:off x="8046720" y="4572000"/>
            <a:ext cx="640080" cy="6400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14" name="Phase 5 name"/>
          <p:cNvSpPr txBox="1"/>
          <p:nvPr/>
        </p:nvSpPr>
        <p:spPr>
          <a:xfrm>
            <a:off x="8796528" y="4572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Ingest</a:t>
            </a:r>
            <a:endParaRPr lang="en-US" sz="1600" dirty="0"/>
          </a:p>
        </p:txBody>
      </p:sp>
      <p:sp>
        <p:nvSpPr>
          <p:cNvPr id="15" name="Phase 6 marker"/>
          <p:cNvSpPr/>
          <p:nvPr/>
        </p:nvSpPr>
        <p:spPr>
          <a:xfrm>
            <a:off x="9875520" y="4572000"/>
            <a:ext cx="640080" cy="6400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16" name="Phase 6 name"/>
          <p:cNvSpPr txBox="1"/>
          <p:nvPr/>
        </p:nvSpPr>
        <p:spPr>
          <a:xfrm>
            <a:off x="10625328" y="4572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Polish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Implementation roadmap: six phases</a:t>
            </a:r>
            <a:endParaRPr lang="en-US" sz="3200" dirty="0"/>
          </a:p>
        </p:txBody>
      </p:sp>
      <p:sp>
        <p:nvSpPr>
          <p:cNvPr id="4" name="Box-1"/>
          <p:cNvSpPr/>
          <p:nvPr/>
        </p:nvSpPr>
        <p:spPr>
          <a:xfrm>
            <a:off x="457200" y="1325880"/>
            <a:ext cx="1719072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1. Plan and scope</a:t>
            </a:r>
            <a:endParaRPr lang="en-US" sz="1400" dirty="0"/>
          </a:p>
        </p:txBody>
      </p:sp>
      <p:sp>
        <p:nvSpPr>
          <p:cNvPr id="5" name="Box-2"/>
          <p:cNvSpPr/>
          <p:nvPr/>
        </p:nvSpPr>
        <p:spPr>
          <a:xfrm>
            <a:off x="457200" y="2240280"/>
            <a:ext cx="1719072" cy="292608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Phase 1 steps"/>
          <p:cNvSpPr txBox="1"/>
          <p:nvPr/>
        </p:nvSpPr>
        <p:spPr>
          <a:xfrm>
            <a:off x="548640" y="2331720"/>
            <a:ext cx="1536192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 the POC (PS3)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Lock 8 features, incl. Connections feed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Split frontend and backend lanes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Mock-first rule for the UI</a:t>
            </a:r>
            <a:endParaRPr lang="en-US" sz="1400" dirty="0"/>
          </a:p>
        </p:txBody>
      </p:sp>
      <p:sp>
        <p:nvSpPr>
          <p:cNvPr id="7" name="Arrow-3"/>
          <p:cNvSpPr/>
          <p:nvPr/>
        </p:nvSpPr>
        <p:spPr>
          <a:xfrm>
            <a:off x="2185416" y="1737360"/>
            <a:ext cx="170078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Box-4"/>
          <p:cNvSpPr/>
          <p:nvPr/>
        </p:nvSpPr>
        <p:spPr>
          <a:xfrm>
            <a:off x="2364638" y="1325880"/>
            <a:ext cx="1719072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2. Frontend on mock data</a:t>
            </a:r>
            <a:endParaRPr lang="en-US" sz="1400" dirty="0"/>
          </a:p>
        </p:txBody>
      </p:sp>
      <p:sp>
        <p:nvSpPr>
          <p:cNvPr id="9" name="Box-5"/>
          <p:cNvSpPr/>
          <p:nvPr/>
        </p:nvSpPr>
        <p:spPr>
          <a:xfrm>
            <a:off x="2364638" y="2240280"/>
            <a:ext cx="1719072" cy="292608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Phase 2 steps"/>
          <p:cNvSpPr txBox="1"/>
          <p:nvPr/>
        </p:nvSpPr>
        <p:spPr>
          <a:xfrm>
            <a:off x="2456078" y="2331720"/>
            <a:ext cx="1536192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Login and onboarding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Discover feed, filters, AI search (mock)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Detail, Saved, Alerts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Connections feed, Squad Hub</a:t>
            </a:r>
            <a:endParaRPr lang="en-US" sz="1400" dirty="0"/>
          </a:p>
        </p:txBody>
      </p:sp>
      <p:sp>
        <p:nvSpPr>
          <p:cNvPr id="11" name="Arrow-6"/>
          <p:cNvSpPr/>
          <p:nvPr/>
        </p:nvSpPr>
        <p:spPr>
          <a:xfrm>
            <a:off x="4092854" y="1737360"/>
            <a:ext cx="170078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Box-7"/>
          <p:cNvSpPr/>
          <p:nvPr/>
        </p:nvSpPr>
        <p:spPr>
          <a:xfrm>
            <a:off x="4272077" y="1325880"/>
            <a:ext cx="1719072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3. Supabase backend</a:t>
            </a:r>
            <a:endParaRPr lang="en-US" sz="1400" dirty="0"/>
          </a:p>
        </p:txBody>
      </p:sp>
      <p:sp>
        <p:nvSpPr>
          <p:cNvPr id="13" name="Box-8"/>
          <p:cNvSpPr/>
          <p:nvPr/>
        </p:nvSpPr>
        <p:spPr>
          <a:xfrm>
            <a:off x="4272077" y="2240280"/>
            <a:ext cx="1719072" cy="292608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Phase 3 steps"/>
          <p:cNvSpPr txBox="1"/>
          <p:nvPr/>
        </p:nvSpPr>
        <p:spPr>
          <a:xfrm>
            <a:off x="4363517" y="2331720"/>
            <a:ext cx="1536192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Google OAuth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Tables and privacy rules (RLS)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Double opt-in contact function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Migrations 0001 to 0017</a:t>
            </a:r>
            <a:endParaRPr lang="en-US" sz="1400" dirty="0"/>
          </a:p>
        </p:txBody>
      </p:sp>
      <p:sp>
        <p:nvSpPr>
          <p:cNvPr id="15" name="Arrow-9"/>
          <p:cNvSpPr/>
          <p:nvPr/>
        </p:nvSpPr>
        <p:spPr>
          <a:xfrm>
            <a:off x="6000293" y="1737360"/>
            <a:ext cx="170078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Box-10"/>
          <p:cNvSpPr/>
          <p:nvPr/>
        </p:nvSpPr>
        <p:spPr>
          <a:xfrm>
            <a:off x="6179515" y="1325880"/>
            <a:ext cx="1719072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4. Connect src/api</a:t>
            </a:r>
            <a:endParaRPr lang="en-US" sz="1400" dirty="0"/>
          </a:p>
        </p:txBody>
      </p:sp>
      <p:sp>
        <p:nvSpPr>
          <p:cNvPr id="17" name="Box-11"/>
          <p:cNvSpPr/>
          <p:nvPr/>
        </p:nvSpPr>
        <p:spPr>
          <a:xfrm>
            <a:off x="6179515" y="2240280"/>
            <a:ext cx="1719072" cy="292608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Phase 4 steps"/>
          <p:cNvSpPr txBox="1"/>
          <p:nvPr/>
        </p:nvSpPr>
        <p:spPr>
          <a:xfrm>
            <a:off x="6270955" y="2331720"/>
            <a:ext cx="1536192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Live: auth, opportunities, saved, alerts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Next: connections, people, squads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Then: LLM search function</a:t>
            </a:r>
            <a:endParaRPr lang="en-US" sz="1400" dirty="0"/>
          </a:p>
        </p:txBody>
      </p:sp>
      <p:sp>
        <p:nvSpPr>
          <p:cNvPr id="19" name="Arrow-12"/>
          <p:cNvSpPr/>
          <p:nvPr/>
        </p:nvSpPr>
        <p:spPr>
          <a:xfrm>
            <a:off x="7907731" y="1737360"/>
            <a:ext cx="170078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Box-13"/>
          <p:cNvSpPr/>
          <p:nvPr/>
        </p:nvSpPr>
        <p:spPr>
          <a:xfrm>
            <a:off x="8086954" y="1325880"/>
            <a:ext cx="1719072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5. Smart ingestion</a:t>
            </a:r>
            <a:endParaRPr lang="en-US" sz="1400" dirty="0"/>
          </a:p>
        </p:txBody>
      </p:sp>
      <p:sp>
        <p:nvSpPr>
          <p:cNvPr id="21" name="Box-14"/>
          <p:cNvSpPr/>
          <p:nvPr/>
        </p:nvSpPr>
        <p:spPr>
          <a:xfrm>
            <a:off x="8086954" y="2240280"/>
            <a:ext cx="1719072" cy="292608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Phase 5 steps"/>
          <p:cNvSpPr txBox="1"/>
          <p:nvPr/>
        </p:nvSpPr>
        <p:spPr>
          <a:xfrm>
            <a:off x="8178394" y="2331720"/>
            <a:ext cx="1536192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Devpost + Unstop, 419 rows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Merge duplicates, flag, close expired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DB trigger writes change alerts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Daily GitHub Action (not yet run)</a:t>
            </a:r>
            <a:endParaRPr lang="en-US" sz="1400" dirty="0"/>
          </a:p>
        </p:txBody>
      </p:sp>
      <p:sp>
        <p:nvSpPr>
          <p:cNvPr id="23" name="Arrow-15"/>
          <p:cNvSpPr/>
          <p:nvPr/>
        </p:nvSpPr>
        <p:spPr>
          <a:xfrm>
            <a:off x="9815170" y="1737360"/>
            <a:ext cx="170078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Box-16"/>
          <p:cNvSpPr/>
          <p:nvPr/>
        </p:nvSpPr>
        <p:spPr>
          <a:xfrm>
            <a:off x="9994392" y="1325880"/>
            <a:ext cx="171907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 Polish and demo</a:t>
            </a:r>
            <a:endParaRPr lang="en-US" sz="1400" dirty="0"/>
          </a:p>
        </p:txBody>
      </p:sp>
      <p:sp>
        <p:nvSpPr>
          <p:cNvPr id="25" name="Box-17"/>
          <p:cNvSpPr/>
          <p:nvPr/>
        </p:nvSpPr>
        <p:spPr>
          <a:xfrm>
            <a:off x="9994392" y="2240280"/>
            <a:ext cx="1719072" cy="292608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6" name="Phase 6 steps"/>
          <p:cNvSpPr txBox="1"/>
          <p:nvPr/>
        </p:nvSpPr>
        <p:spPr>
          <a:xfrm>
            <a:off x="10085832" y="2331720"/>
            <a:ext cx="1536192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Realtime in the screens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Accessibility pass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Deploy the app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Judges README and demo login: done</a:t>
            </a:r>
            <a:endParaRPr lang="en-US" sz="1400" dirty="0"/>
          </a:p>
        </p:txBody>
      </p:sp>
      <p:sp>
        <p:nvSpPr>
          <p:cNvPr id="27" name="Key-18"/>
          <p:cNvSpPr/>
          <p:nvPr/>
        </p:nvSpPr>
        <p:spPr>
          <a:xfrm>
            <a:off x="457200" y="5477256"/>
            <a:ext cx="201168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8" name="KeyText-19"/>
          <p:cNvSpPr txBox="1"/>
          <p:nvPr/>
        </p:nvSpPr>
        <p:spPr>
          <a:xfrm>
            <a:off x="731520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Done</a:t>
            </a:r>
            <a:endParaRPr lang="en-US" sz="1100" dirty="0"/>
          </a:p>
        </p:txBody>
      </p:sp>
      <p:sp>
        <p:nvSpPr>
          <p:cNvPr id="29" name="Key-20"/>
          <p:cNvSpPr/>
          <p:nvPr/>
        </p:nvSpPr>
        <p:spPr>
          <a:xfrm>
            <a:off x="2743200" y="5477256"/>
            <a:ext cx="201168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0" name="KeyText-21"/>
          <p:cNvSpPr txBox="1"/>
          <p:nvPr/>
        </p:nvSpPr>
        <p:spPr>
          <a:xfrm>
            <a:off x="3017520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Partly done</a:t>
            </a:r>
            <a:endParaRPr lang="en-US" sz="1100" dirty="0"/>
          </a:p>
        </p:txBody>
      </p:sp>
      <p:sp>
        <p:nvSpPr>
          <p:cNvPr id="31" name="Key-22"/>
          <p:cNvSpPr/>
          <p:nvPr/>
        </p:nvSpPr>
        <p:spPr>
          <a:xfrm>
            <a:off x="5029200" y="5477256"/>
            <a:ext cx="201168" cy="201168"/>
          </a:xfrm>
          <a:prstGeom prst="roundRect">
            <a:avLst>
              <a:gd name="adj" fmla="val 22727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32" name="KeyText-23"/>
          <p:cNvSpPr txBox="1"/>
          <p:nvPr/>
        </p:nvSpPr>
        <p:spPr>
          <a:xfrm>
            <a:off x="5303520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Remaining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Student journey through the app</a:t>
            </a:r>
            <a:endParaRPr lang="en-US" sz="3200" dirty="0"/>
          </a:p>
        </p:txBody>
      </p:sp>
      <p:sp>
        <p:nvSpPr>
          <p:cNvPr id="4" name="Terminal-24"/>
          <p:cNvSpPr/>
          <p:nvPr/>
        </p:nvSpPr>
        <p:spPr>
          <a:xfrm>
            <a:off x="457200" y="1280160"/>
            <a:ext cx="1920240" cy="8686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Open Nexus and sign in with Google</a:t>
            </a:r>
            <a:endParaRPr lang="en-US" sz="1200" dirty="0"/>
          </a:p>
        </p:txBody>
      </p:sp>
      <p:sp>
        <p:nvSpPr>
          <p:cNvPr id="5" name="Arrow-25"/>
          <p:cNvSpPr/>
          <p:nvPr/>
        </p:nvSpPr>
        <p:spPr>
          <a:xfrm>
            <a:off x="2377440" y="1714500"/>
            <a:ext cx="4114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Box-26"/>
          <p:cNvSpPr/>
          <p:nvPr/>
        </p:nvSpPr>
        <p:spPr>
          <a:xfrm>
            <a:off x="2788920" y="128016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Onboarding: year, location, interests, skills</a:t>
            </a:r>
            <a:endParaRPr lang="en-US" sz="1200" dirty="0"/>
          </a:p>
        </p:txBody>
      </p:sp>
      <p:sp>
        <p:nvSpPr>
          <p:cNvPr id="7" name="Arrow-27"/>
          <p:cNvSpPr/>
          <p:nvPr/>
        </p:nvSpPr>
        <p:spPr>
          <a:xfrm>
            <a:off x="4709160" y="1714500"/>
            <a:ext cx="4114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Box-28"/>
          <p:cNvSpPr/>
          <p:nvPr/>
        </p:nvSpPr>
        <p:spPr>
          <a:xfrm>
            <a:off x="5120640" y="128016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Discover feed ranked by skills and interests</a:t>
            </a:r>
            <a:endParaRPr lang="en-US" sz="1200" dirty="0"/>
          </a:p>
        </p:txBody>
      </p:sp>
      <p:sp>
        <p:nvSpPr>
          <p:cNvPr id="9" name="Arrow-29"/>
          <p:cNvSpPr/>
          <p:nvPr/>
        </p:nvSpPr>
        <p:spPr>
          <a:xfrm>
            <a:off x="7040880" y="1714500"/>
            <a:ext cx="4114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Box-30"/>
          <p:cNvSpPr/>
          <p:nvPr/>
        </p:nvSpPr>
        <p:spPr>
          <a:xfrm>
            <a:off x="7452360" y="128016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Filter, or ask the AI search in plain English</a:t>
            </a:r>
            <a:endParaRPr lang="en-US" sz="1200" dirty="0"/>
          </a:p>
        </p:txBody>
      </p:sp>
      <p:sp>
        <p:nvSpPr>
          <p:cNvPr id="11" name="Arrow-31"/>
          <p:cNvSpPr/>
          <p:nvPr/>
        </p:nvSpPr>
        <p:spPr>
          <a:xfrm>
            <a:off x="9372600" y="1714500"/>
            <a:ext cx="4114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Box-32"/>
          <p:cNvSpPr/>
          <p:nvPr/>
        </p:nvSpPr>
        <p:spPr>
          <a:xfrm>
            <a:off x="9784080" y="128016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Open the opportunity detail page</a:t>
            </a:r>
            <a:endParaRPr lang="en-US" sz="1200" dirty="0"/>
          </a:p>
        </p:txBody>
      </p:sp>
      <p:sp>
        <p:nvSpPr>
          <p:cNvPr id="13" name="Arrow-33"/>
          <p:cNvSpPr/>
          <p:nvPr/>
        </p:nvSpPr>
        <p:spPr>
          <a:xfrm>
            <a:off x="10744200" y="2148840"/>
            <a:ext cx="0" cy="43434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Decision-34"/>
          <p:cNvSpPr/>
          <p:nvPr/>
        </p:nvSpPr>
        <p:spPr>
          <a:xfrm>
            <a:off x="9646920" y="2583180"/>
            <a:ext cx="2103120" cy="118872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Eligible for this student?</a:t>
            </a:r>
            <a:endParaRPr lang="en-US" sz="1100" dirty="0"/>
          </a:p>
        </p:txBody>
      </p:sp>
      <p:sp>
        <p:nvSpPr>
          <p:cNvPr id="15" name="Arrow-35"/>
          <p:cNvSpPr/>
          <p:nvPr/>
        </p:nvSpPr>
        <p:spPr>
          <a:xfrm flipH="1">
            <a:off x="9098280" y="3177540"/>
            <a:ext cx="5486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Label-36"/>
          <p:cNvSpPr txBox="1"/>
          <p:nvPr/>
        </p:nvSpPr>
        <p:spPr>
          <a:xfrm>
            <a:off x="9098280" y="28849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Yes</a:t>
            </a:r>
            <a:endParaRPr lang="en-US" sz="1100" dirty="0"/>
          </a:p>
        </p:txBody>
      </p:sp>
      <p:sp>
        <p:nvSpPr>
          <p:cNvPr id="17" name="Box-37"/>
          <p:cNvSpPr/>
          <p:nvPr/>
        </p:nvSpPr>
        <p:spPr>
          <a:xfrm>
            <a:off x="6903720" y="2743200"/>
            <a:ext cx="21945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Trust layer: source link, Last Verified, conflict warning</a:t>
            </a:r>
            <a:endParaRPr lang="en-US" sz="1200" dirty="0"/>
          </a:p>
        </p:txBody>
      </p:sp>
      <p:sp>
        <p:nvSpPr>
          <p:cNvPr id="18" name="Arrow-38"/>
          <p:cNvSpPr/>
          <p:nvPr/>
        </p:nvSpPr>
        <p:spPr>
          <a:xfrm flipH="1">
            <a:off x="6629400" y="3177540"/>
            <a:ext cx="2743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Box-39"/>
          <p:cNvSpPr/>
          <p:nvPr/>
        </p:nvSpPr>
        <p:spPr>
          <a:xfrm>
            <a:off x="4434840" y="2743200"/>
            <a:ext cx="21945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Save the opportunity to watch it</a:t>
            </a:r>
            <a:endParaRPr lang="en-US" sz="1200" dirty="0"/>
          </a:p>
        </p:txBody>
      </p:sp>
      <p:sp>
        <p:nvSpPr>
          <p:cNvPr id="20" name="Arrow-40"/>
          <p:cNvSpPr/>
          <p:nvPr/>
        </p:nvSpPr>
        <p:spPr>
          <a:xfrm flipH="1">
            <a:off x="4160520" y="3177540"/>
            <a:ext cx="2743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Box-41"/>
          <p:cNvSpPr/>
          <p:nvPr/>
        </p:nvSpPr>
        <p:spPr>
          <a:xfrm>
            <a:off x="1965960" y="2743200"/>
            <a:ext cx="21945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Change Sentinel: in-app alert on deadline or rule change</a:t>
            </a:r>
            <a:endParaRPr lang="en-US" sz="1200" dirty="0"/>
          </a:p>
        </p:txBody>
      </p:sp>
      <p:sp>
        <p:nvSpPr>
          <p:cNvPr id="22" name="Arrow-42"/>
          <p:cNvSpPr/>
          <p:nvPr/>
        </p:nvSpPr>
        <p:spPr>
          <a:xfrm>
            <a:off x="10698480" y="3771900"/>
            <a:ext cx="0" cy="38862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Label-43"/>
          <p:cNvSpPr txBox="1"/>
          <p:nvPr/>
        </p:nvSpPr>
        <p:spPr>
          <a:xfrm>
            <a:off x="10789920" y="38176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No</a:t>
            </a:r>
            <a:endParaRPr lang="en-US" sz="1100" dirty="0"/>
          </a:p>
        </p:txBody>
      </p:sp>
      <p:sp>
        <p:nvSpPr>
          <p:cNvPr id="24" name="Box-44"/>
          <p:cNvSpPr/>
          <p:nvPr/>
        </p:nvSpPr>
        <p:spPr>
          <a:xfrm>
            <a:off x="9372600" y="4160520"/>
            <a:ext cx="2651760" cy="777240"/>
          </a:xfrm>
          <a:prstGeom prst="roundRect">
            <a:avLst>
              <a:gd name="adj" fmla="val 9412"/>
            </a:avLst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Show the reason, e.g. requires final-year standing</a:t>
            </a:r>
            <a:endParaRPr lang="en-US" sz="1200" dirty="0"/>
          </a:p>
        </p:txBody>
      </p:sp>
      <p:sp>
        <p:nvSpPr>
          <p:cNvPr id="25" name="Arrow-45"/>
          <p:cNvSpPr/>
          <p:nvPr/>
        </p:nvSpPr>
        <p:spPr>
          <a:xfrm>
            <a:off x="3063240" y="3611880"/>
            <a:ext cx="0" cy="10972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6" name="Arrow-46"/>
          <p:cNvSpPr/>
          <p:nvPr/>
        </p:nvSpPr>
        <p:spPr>
          <a:xfrm flipH="1">
            <a:off x="1211580" y="4709160"/>
            <a:ext cx="18516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7" name="Arrow-47"/>
          <p:cNvSpPr/>
          <p:nvPr/>
        </p:nvSpPr>
        <p:spPr>
          <a:xfrm>
            <a:off x="1211580" y="4709160"/>
            <a:ext cx="0" cy="4114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Box-48"/>
          <p:cNvSpPr/>
          <p:nvPr/>
        </p:nvSpPr>
        <p:spPr>
          <a:xfrm>
            <a:off x="457200" y="5120640"/>
            <a:ext cx="1508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Squad Hub: opt in as leader or solo seeker, pick weekly hours</a:t>
            </a:r>
            <a:endParaRPr lang="en-US" sz="1200" dirty="0"/>
          </a:p>
        </p:txBody>
      </p:sp>
      <p:sp>
        <p:nvSpPr>
          <p:cNvPr id="29" name="Box-49"/>
          <p:cNvSpPr/>
          <p:nvPr/>
        </p:nvSpPr>
        <p:spPr>
          <a:xfrm>
            <a:off x="2267712" y="5120640"/>
            <a:ext cx="1508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Ranked matches: top 3 to 5 people or top 5 squads</a:t>
            </a:r>
            <a:endParaRPr lang="en-US" sz="1200" dirty="0"/>
          </a:p>
        </p:txBody>
      </p:sp>
      <p:sp>
        <p:nvSpPr>
          <p:cNvPr id="30" name="Box-50"/>
          <p:cNvSpPr/>
          <p:nvPr/>
        </p:nvSpPr>
        <p:spPr>
          <a:xfrm>
            <a:off x="4078224" y="5120640"/>
            <a:ext cx="1508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Send a Connect request</a:t>
            </a:r>
            <a:endParaRPr lang="en-US" sz="1200" dirty="0"/>
          </a:p>
        </p:txBody>
      </p:sp>
      <p:sp>
        <p:nvSpPr>
          <p:cNvPr id="31" name="Decision-51"/>
          <p:cNvSpPr/>
          <p:nvPr/>
        </p:nvSpPr>
        <p:spPr>
          <a:xfrm>
            <a:off x="5888736" y="4983480"/>
            <a:ext cx="1828800" cy="114300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Both opt in?</a:t>
            </a:r>
            <a:endParaRPr lang="en-US" sz="1100" dirty="0"/>
          </a:p>
        </p:txBody>
      </p:sp>
      <p:sp>
        <p:nvSpPr>
          <p:cNvPr id="32" name="Box-52"/>
          <p:cNvSpPr/>
          <p:nvPr/>
        </p:nvSpPr>
        <p:spPr>
          <a:xfrm>
            <a:off x="8019288" y="5120640"/>
            <a:ext cx="1508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Contacts revealed. Team full? Copy Roster</a:t>
            </a:r>
            <a:endParaRPr lang="en-US" sz="1200" dirty="0"/>
          </a:p>
        </p:txBody>
      </p:sp>
      <p:sp>
        <p:nvSpPr>
          <p:cNvPr id="33" name="Terminal-53"/>
          <p:cNvSpPr/>
          <p:nvPr/>
        </p:nvSpPr>
        <p:spPr>
          <a:xfrm>
            <a:off x="9829800" y="5120640"/>
            <a:ext cx="1508760" cy="8686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Apply on the organizer's website</a:t>
            </a:r>
            <a:endParaRPr lang="en-US" sz="1200" dirty="0"/>
          </a:p>
        </p:txBody>
      </p:sp>
      <p:sp>
        <p:nvSpPr>
          <p:cNvPr id="34" name="Arrow-54"/>
          <p:cNvSpPr/>
          <p:nvPr/>
        </p:nvSpPr>
        <p:spPr>
          <a:xfrm>
            <a:off x="1965960" y="5554980"/>
            <a:ext cx="30175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5" name="Arrow-55"/>
          <p:cNvSpPr/>
          <p:nvPr/>
        </p:nvSpPr>
        <p:spPr>
          <a:xfrm>
            <a:off x="3776472" y="5554980"/>
            <a:ext cx="30175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Arrow-56"/>
          <p:cNvSpPr/>
          <p:nvPr/>
        </p:nvSpPr>
        <p:spPr>
          <a:xfrm>
            <a:off x="5586984" y="5554980"/>
            <a:ext cx="301752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7" name="Arrow-57"/>
          <p:cNvSpPr/>
          <p:nvPr/>
        </p:nvSpPr>
        <p:spPr>
          <a:xfrm>
            <a:off x="7717536" y="5554980"/>
            <a:ext cx="30175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8" name="Arrow-58"/>
          <p:cNvSpPr/>
          <p:nvPr/>
        </p:nvSpPr>
        <p:spPr>
          <a:xfrm>
            <a:off x="9528048" y="5554980"/>
            <a:ext cx="30175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9" name="Label-59"/>
          <p:cNvSpPr txBox="1"/>
          <p:nvPr/>
        </p:nvSpPr>
        <p:spPr>
          <a:xfrm>
            <a:off x="7717536" y="5262372"/>
            <a:ext cx="39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Yes</a:t>
            </a:r>
            <a:endParaRPr lang="en-US" sz="1000" dirty="0"/>
          </a:p>
        </p:txBody>
      </p:sp>
      <p:sp>
        <p:nvSpPr>
          <p:cNvPr id="40" name="Label-60"/>
          <p:cNvSpPr txBox="1"/>
          <p:nvPr/>
        </p:nvSpPr>
        <p:spPr>
          <a:xfrm>
            <a:off x="5797296" y="61722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No: no contact is shared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 and ingestion pipeline</a:t>
            </a:r>
            <a:endParaRPr lang="en-US" sz="3200" dirty="0"/>
          </a:p>
        </p:txBody>
      </p:sp>
      <p:sp>
        <p:nvSpPr>
          <p:cNvPr id="4" name="Terminal-61"/>
          <p:cNvSpPr/>
          <p:nvPr/>
        </p:nvSpPr>
        <p:spPr>
          <a:xfrm>
            <a:off x="457200" y="1280160"/>
            <a:ext cx="1920240" cy="914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Devpost JSON feed and Unstop API</a:t>
            </a:r>
            <a:endParaRPr lang="en-US" sz="1200" dirty="0"/>
          </a:p>
        </p:txBody>
      </p:sp>
      <p:sp>
        <p:nvSpPr>
          <p:cNvPr id="5" name="Arrow-62"/>
          <p:cNvSpPr/>
          <p:nvPr/>
        </p:nvSpPr>
        <p:spPr>
          <a:xfrm>
            <a:off x="2377440" y="1737360"/>
            <a:ext cx="4114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Box-63"/>
          <p:cNvSpPr/>
          <p:nvPr/>
        </p:nvSpPr>
        <p:spPr>
          <a:xfrm>
            <a:off x="2788920" y="1280160"/>
            <a:ext cx="1920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Fetch daily: GitHub Action 00:30 UTC, or npm run ingest</a:t>
            </a:r>
            <a:endParaRPr lang="en-US" sz="1200" dirty="0"/>
          </a:p>
        </p:txBody>
      </p:sp>
      <p:sp>
        <p:nvSpPr>
          <p:cNvPr id="7" name="Arrow-64"/>
          <p:cNvSpPr/>
          <p:nvPr/>
        </p:nvSpPr>
        <p:spPr>
          <a:xfrm>
            <a:off x="4709160" y="1737360"/>
            <a:ext cx="4114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Box-65"/>
          <p:cNvSpPr/>
          <p:nvPr/>
        </p:nvSpPr>
        <p:spPr>
          <a:xfrm>
            <a:off x="5120640" y="1280160"/>
            <a:ext cx="1920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Normalise to the Nexus data shape</a:t>
            </a:r>
            <a:endParaRPr lang="en-US" sz="1200" dirty="0"/>
          </a:p>
        </p:txBody>
      </p:sp>
      <p:sp>
        <p:nvSpPr>
          <p:cNvPr id="9" name="Arrow-66"/>
          <p:cNvSpPr/>
          <p:nvPr/>
        </p:nvSpPr>
        <p:spPr>
          <a:xfrm>
            <a:off x="7040880" y="1737360"/>
            <a:ext cx="4114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Box-67"/>
          <p:cNvSpPr/>
          <p:nvPr/>
        </p:nvSpPr>
        <p:spPr>
          <a:xfrm>
            <a:off x="7452360" y="1280160"/>
            <a:ext cx="1920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Merge cross-posted duplicates</a:t>
            </a:r>
            <a:endParaRPr lang="en-US" sz="1200" dirty="0"/>
          </a:p>
        </p:txBody>
      </p:sp>
      <p:sp>
        <p:nvSpPr>
          <p:cNvPr id="11" name="Arrow-68"/>
          <p:cNvSpPr/>
          <p:nvPr/>
        </p:nvSpPr>
        <p:spPr>
          <a:xfrm>
            <a:off x="9372600" y="1737360"/>
            <a:ext cx="4114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Box-69"/>
          <p:cNvSpPr/>
          <p:nvPr/>
        </p:nvSpPr>
        <p:spPr>
          <a:xfrm>
            <a:off x="9784080" y="1280160"/>
            <a:ext cx="1920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Flag missing details, close expired events</a:t>
            </a:r>
            <a:endParaRPr lang="en-US" sz="1200" dirty="0"/>
          </a:p>
        </p:txBody>
      </p:sp>
      <p:sp>
        <p:nvSpPr>
          <p:cNvPr id="13" name="Arrow-70"/>
          <p:cNvSpPr/>
          <p:nvPr/>
        </p:nvSpPr>
        <p:spPr>
          <a:xfrm>
            <a:off x="10744200" y="2194560"/>
            <a:ext cx="0" cy="54864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Label-71"/>
          <p:cNvSpPr txBox="1"/>
          <p:nvPr/>
        </p:nvSpPr>
        <p:spPr>
          <a:xfrm>
            <a:off x="10853928" y="2468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Upsert</a:t>
            </a:r>
            <a:endParaRPr lang="en-US" sz="1000" dirty="0"/>
          </a:p>
        </p:txBody>
      </p:sp>
      <p:sp>
        <p:nvSpPr>
          <p:cNvPr id="15" name="Box-72"/>
          <p:cNvSpPr/>
          <p:nvPr/>
        </p:nvSpPr>
        <p:spPr>
          <a:xfrm>
            <a:off x="9646920" y="274320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Supabase PostgreSQL: opportunities, organizers</a:t>
            </a:r>
            <a:endParaRPr lang="en-US" sz="1200" dirty="0"/>
          </a:p>
        </p:txBody>
      </p:sp>
      <p:sp>
        <p:nvSpPr>
          <p:cNvPr id="16" name="Arrow-73"/>
          <p:cNvSpPr/>
          <p:nvPr/>
        </p:nvSpPr>
        <p:spPr>
          <a:xfrm flipH="1">
            <a:off x="7543800" y="3200400"/>
            <a:ext cx="21031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Decision-74"/>
          <p:cNvSpPr/>
          <p:nvPr/>
        </p:nvSpPr>
        <p:spPr>
          <a:xfrm>
            <a:off x="5532120" y="2606040"/>
            <a:ext cx="2011680" cy="118872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Deadline or fee changed?</a:t>
            </a:r>
            <a:endParaRPr lang="en-US" sz="1100" dirty="0"/>
          </a:p>
        </p:txBody>
      </p:sp>
      <p:sp>
        <p:nvSpPr>
          <p:cNvPr id="18" name="Arrow-75"/>
          <p:cNvSpPr/>
          <p:nvPr/>
        </p:nvSpPr>
        <p:spPr>
          <a:xfrm flipH="1">
            <a:off x="4572000" y="3200400"/>
            <a:ext cx="96012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Label-76"/>
          <p:cNvSpPr txBox="1"/>
          <p:nvPr/>
        </p:nvSpPr>
        <p:spPr>
          <a:xfrm>
            <a:off x="4663440" y="29077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Yes</a:t>
            </a:r>
            <a:endParaRPr lang="en-US" sz="1100" dirty="0"/>
          </a:p>
        </p:txBody>
      </p:sp>
      <p:sp>
        <p:nvSpPr>
          <p:cNvPr id="20" name="Box-77"/>
          <p:cNvSpPr/>
          <p:nvPr/>
        </p:nvSpPr>
        <p:spPr>
          <a:xfrm>
            <a:off x="2377440" y="2743200"/>
            <a:ext cx="21945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Database trigger writes an alert row</a:t>
            </a:r>
            <a:endParaRPr lang="en-US" sz="1200" dirty="0"/>
          </a:p>
        </p:txBody>
      </p:sp>
      <p:sp>
        <p:nvSpPr>
          <p:cNvPr id="21" name="Arrow-78"/>
          <p:cNvSpPr/>
          <p:nvPr/>
        </p:nvSpPr>
        <p:spPr>
          <a:xfrm flipH="1">
            <a:off x="1828800" y="3200400"/>
            <a:ext cx="5486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Box-79"/>
          <p:cNvSpPr/>
          <p:nvPr/>
        </p:nvSpPr>
        <p:spPr>
          <a:xfrm>
            <a:off x="457200" y="2743200"/>
            <a:ext cx="1371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Student sees what changed</a:t>
            </a:r>
            <a:endParaRPr lang="en-US" sz="1200" dirty="0"/>
          </a:p>
        </p:txBody>
      </p:sp>
      <p:sp>
        <p:nvSpPr>
          <p:cNvPr id="23" name="Arrow-80"/>
          <p:cNvSpPr/>
          <p:nvPr/>
        </p:nvSpPr>
        <p:spPr>
          <a:xfrm>
            <a:off x="6537960" y="3794760"/>
            <a:ext cx="0" cy="32004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Label-81"/>
          <p:cNvSpPr txBox="1"/>
          <p:nvPr/>
        </p:nvSpPr>
        <p:spPr>
          <a:xfrm>
            <a:off x="5394960" y="41605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No: nothing is sent</a:t>
            </a:r>
            <a:endParaRPr lang="en-US" sz="1000" dirty="0"/>
          </a:p>
        </p:txBody>
      </p:sp>
      <p:sp>
        <p:nvSpPr>
          <p:cNvPr id="25" name="Arrow-82"/>
          <p:cNvSpPr/>
          <p:nvPr/>
        </p:nvSpPr>
        <p:spPr>
          <a:xfrm>
            <a:off x="10698480" y="3657600"/>
            <a:ext cx="0" cy="91440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Box-83"/>
          <p:cNvSpPr/>
          <p:nvPr/>
        </p:nvSpPr>
        <p:spPr>
          <a:xfrm>
            <a:off x="9646920" y="457200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src/api/opportunities.js</a:t>
            </a:r>
            <a:endParaRPr lang="en-US" sz="1200" dirty="0"/>
          </a:p>
        </p:txBody>
      </p:sp>
      <p:sp>
        <p:nvSpPr>
          <p:cNvPr id="27" name="Arrow-84"/>
          <p:cNvSpPr/>
          <p:nvPr/>
        </p:nvSpPr>
        <p:spPr>
          <a:xfrm flipH="1">
            <a:off x="7680960" y="5029200"/>
            <a:ext cx="19659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Box-85"/>
          <p:cNvSpPr/>
          <p:nvPr/>
        </p:nvSpPr>
        <p:spPr>
          <a:xfrm>
            <a:off x="5257800" y="4572000"/>
            <a:ext cx="24231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Score: relevance % and eligibility, kept separate</a:t>
            </a:r>
            <a:endParaRPr lang="en-US" sz="1200" dirty="0"/>
          </a:p>
        </p:txBody>
      </p:sp>
      <p:sp>
        <p:nvSpPr>
          <p:cNvPr id="29" name="Arrow-86"/>
          <p:cNvSpPr/>
          <p:nvPr/>
        </p:nvSpPr>
        <p:spPr>
          <a:xfrm flipH="1">
            <a:off x="4572000" y="5029200"/>
            <a:ext cx="68580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Box-87"/>
          <p:cNvSpPr/>
          <p:nvPr/>
        </p:nvSpPr>
        <p:spPr>
          <a:xfrm>
            <a:off x="457200" y="4572000"/>
            <a:ext cx="411480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Discover feed and detail page with source link, Last Verified and conflict warnings</a:t>
            </a:r>
            <a:endParaRPr lang="en-US" sz="1200" dirty="0"/>
          </a:p>
        </p:txBody>
      </p:sp>
      <p:sp>
        <p:nvSpPr>
          <p:cNvPr id="31" name="Label-88"/>
          <p:cNvSpPr txBox="1"/>
          <p:nvPr/>
        </p:nvSpPr>
        <p:spPr>
          <a:xfrm>
            <a:off x="457200" y="580644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Service-role key stays on the server. The browser only ever uses the public key plus privacy rules.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Connecting the frontend: one file at a time</a:t>
            </a:r>
            <a:endParaRPr lang="en-US" sz="3200" dirty="0"/>
          </a:p>
        </p:txBody>
      </p:sp>
      <p:sp>
        <p:nvSpPr>
          <p:cNvPr id="4" name="Terminal-89"/>
          <p:cNvSpPr/>
          <p:nvPr/>
        </p:nvSpPr>
        <p:spPr>
          <a:xfrm>
            <a:off x="914400" y="1280160"/>
            <a:ext cx="274320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Screen needs data</a:t>
            </a:r>
            <a:endParaRPr lang="en-US" sz="1200" dirty="0"/>
          </a:p>
        </p:txBody>
      </p:sp>
      <p:sp>
        <p:nvSpPr>
          <p:cNvPr id="5" name="Arrow-90"/>
          <p:cNvSpPr/>
          <p:nvPr/>
        </p:nvSpPr>
        <p:spPr>
          <a:xfrm>
            <a:off x="2286000" y="1828800"/>
            <a:ext cx="0" cy="2743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Box-91"/>
          <p:cNvSpPr/>
          <p:nvPr/>
        </p:nvSpPr>
        <p:spPr>
          <a:xfrm>
            <a:off x="914400" y="2103120"/>
            <a:ext cx="27432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Calls one function in src/api</a:t>
            </a:r>
            <a:endParaRPr lang="en-US" sz="1200" dirty="0"/>
          </a:p>
        </p:txBody>
      </p:sp>
      <p:sp>
        <p:nvSpPr>
          <p:cNvPr id="7" name="Arrow-92"/>
          <p:cNvSpPr/>
          <p:nvPr/>
        </p:nvSpPr>
        <p:spPr>
          <a:xfrm>
            <a:off x="2286000" y="2743200"/>
            <a:ext cx="0" cy="2743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Decision-93"/>
          <p:cNvSpPr/>
          <p:nvPr/>
        </p:nvSpPr>
        <p:spPr>
          <a:xfrm>
            <a:off x="1280160" y="3017520"/>
            <a:ext cx="2011680" cy="1371600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Wired to Supabase?</a:t>
            </a:r>
            <a:endParaRPr lang="en-US" sz="1100" dirty="0"/>
          </a:p>
        </p:txBody>
      </p:sp>
      <p:sp>
        <p:nvSpPr>
          <p:cNvPr id="9" name="Arrow-94"/>
          <p:cNvSpPr/>
          <p:nvPr/>
        </p:nvSpPr>
        <p:spPr>
          <a:xfrm>
            <a:off x="1280160" y="3703320"/>
            <a:ext cx="0" cy="105156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Arrow-95"/>
          <p:cNvSpPr/>
          <p:nvPr/>
        </p:nvSpPr>
        <p:spPr>
          <a:xfrm>
            <a:off x="3291840" y="3703320"/>
            <a:ext cx="0" cy="105156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1" name="Label-96"/>
          <p:cNvSpPr txBox="1"/>
          <p:nvPr/>
        </p:nvSpPr>
        <p:spPr>
          <a:xfrm>
            <a:off x="777240" y="40690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Yes</a:t>
            </a:r>
            <a:endParaRPr lang="en-US" sz="1000" dirty="0"/>
          </a:p>
        </p:txBody>
      </p:sp>
      <p:sp>
        <p:nvSpPr>
          <p:cNvPr id="12" name="Label-97"/>
          <p:cNvSpPr txBox="1"/>
          <p:nvPr/>
        </p:nvSpPr>
        <p:spPr>
          <a:xfrm>
            <a:off x="3337560" y="40690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No</a:t>
            </a:r>
            <a:endParaRPr lang="en-US" sz="1000" dirty="0"/>
          </a:p>
        </p:txBody>
      </p:sp>
      <p:sp>
        <p:nvSpPr>
          <p:cNvPr id="13" name="Box-98"/>
          <p:cNvSpPr/>
          <p:nvPr/>
        </p:nvSpPr>
        <p:spPr>
          <a:xfrm>
            <a:off x="457200" y="4754880"/>
            <a:ext cx="164592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Supabase query, privacy rules apply</a:t>
            </a:r>
            <a:endParaRPr lang="en-US" sz="1100" dirty="0"/>
          </a:p>
        </p:txBody>
      </p:sp>
      <p:sp>
        <p:nvSpPr>
          <p:cNvPr id="14" name="Box-99"/>
          <p:cNvSpPr/>
          <p:nvPr/>
        </p:nvSpPr>
        <p:spPr>
          <a:xfrm>
            <a:off x="2468880" y="4754880"/>
            <a:ext cx="164592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Mock data in the browser</a:t>
            </a:r>
            <a:endParaRPr lang="en-US" sz="1100" dirty="0"/>
          </a:p>
        </p:txBody>
      </p:sp>
      <p:sp>
        <p:nvSpPr>
          <p:cNvPr id="15" name="Label-100"/>
          <p:cNvSpPr txBox="1"/>
          <p:nvPr/>
        </p:nvSpPr>
        <p:spPr>
          <a:xfrm>
            <a:off x="457200" y="5715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Same data shape either way, so the screen does not change</a:t>
            </a:r>
            <a:endParaRPr lang="en-US" sz="1100" dirty="0"/>
          </a:p>
        </p:txBody>
      </p:sp>
      <p:graphicFrame>
        <p:nvGraphicFramePr>
          <p:cNvPr id="6" name="API stat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280160"/>
          <a:ext cx="72237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  <a:gridCol w="822960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auth.js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opportunities.js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scheduled ingest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saved.js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 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alerts.js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Sentinel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Realtime push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connections.js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Feed, likes, comments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Rewire to feed tables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people.js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Connections, invites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Rewire to public profiles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squads.js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 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Rewire, double opt-in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search.js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Edge 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Label-101"/>
          <p:cNvSpPr txBox="1"/>
          <p:nvPr/>
        </p:nvSpPr>
        <p:spPr>
          <a:xfrm>
            <a:off x="4526280" y="576072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Mock files are deleted as each file goes live. Offline mock mode still works.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Remaining work to demo day</a:t>
            </a:r>
            <a:endParaRPr lang="en-US" sz="3200" dirty="0"/>
          </a:p>
        </p:txBody>
      </p:sp>
      <p:sp>
        <p:nvSpPr>
          <p:cNvPr id="4" name="Lane-102"/>
          <p:cNvSpPr/>
          <p:nvPr/>
        </p:nvSpPr>
        <p:spPr>
          <a:xfrm>
            <a:off x="457200" y="1280160"/>
            <a:ext cx="1124712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LaneName-103"/>
          <p:cNvSpPr txBox="1"/>
          <p:nvPr/>
        </p:nvSpPr>
        <p:spPr>
          <a:xfrm>
            <a:off x="585216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Backend lane (Supabase, src/api)</a:t>
            </a:r>
            <a:endParaRPr lang="en-US" sz="1200" dirty="0"/>
          </a:p>
        </p:txBody>
      </p:sp>
      <p:sp>
        <p:nvSpPr>
          <p:cNvPr id="6" name="Lane-104"/>
          <p:cNvSpPr/>
          <p:nvPr/>
        </p:nvSpPr>
        <p:spPr>
          <a:xfrm>
            <a:off x="457200" y="3611880"/>
            <a:ext cx="1124712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LaneName-105"/>
          <p:cNvSpPr txBox="1"/>
          <p:nvPr/>
        </p:nvSpPr>
        <p:spPr>
          <a:xfrm>
            <a:off x="585216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Frontend lane (screens)</a:t>
            </a:r>
            <a:endParaRPr lang="en-US" sz="1200" dirty="0"/>
          </a:p>
        </p:txBody>
      </p:sp>
      <p:sp>
        <p:nvSpPr>
          <p:cNvPr id="8" name="Box-106"/>
          <p:cNvSpPr/>
          <p:nvPr/>
        </p:nvSpPr>
        <p:spPr>
          <a:xfrm>
            <a:off x="594360" y="169164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Rewire connections.js and people.js</a:t>
            </a:r>
            <a:endParaRPr lang="en-US" sz="1200" dirty="0"/>
          </a:p>
        </p:txBody>
      </p:sp>
      <p:sp>
        <p:nvSpPr>
          <p:cNvPr id="9" name="Arrow-107"/>
          <p:cNvSpPr/>
          <p:nvPr/>
        </p:nvSpPr>
        <p:spPr>
          <a:xfrm>
            <a:off x="2194560" y="2377440"/>
            <a:ext cx="2743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Box-108"/>
          <p:cNvSpPr/>
          <p:nvPr/>
        </p:nvSpPr>
        <p:spPr>
          <a:xfrm>
            <a:off x="2468880" y="169164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Rewire squads.js with the contact reveal function</a:t>
            </a:r>
            <a:endParaRPr lang="en-US" sz="1200" dirty="0"/>
          </a:p>
        </p:txBody>
      </p:sp>
      <p:sp>
        <p:nvSpPr>
          <p:cNvPr id="11" name="Arrow-109"/>
          <p:cNvSpPr/>
          <p:nvPr/>
        </p:nvSpPr>
        <p:spPr>
          <a:xfrm>
            <a:off x="4069080" y="2377440"/>
            <a:ext cx="2743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Box-110"/>
          <p:cNvSpPr/>
          <p:nvPr/>
        </p:nvSpPr>
        <p:spPr>
          <a:xfrm>
            <a:off x="4343400" y="169164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LLM Edge Function for AI search, key stays server-side</a:t>
            </a:r>
            <a:endParaRPr lang="en-US" sz="1200" dirty="0"/>
          </a:p>
        </p:txBody>
      </p:sp>
      <p:sp>
        <p:nvSpPr>
          <p:cNvPr id="13" name="Arrow-111"/>
          <p:cNvSpPr/>
          <p:nvPr/>
        </p:nvSpPr>
        <p:spPr>
          <a:xfrm>
            <a:off x="5943600" y="2377440"/>
            <a:ext cx="2743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Box-112"/>
          <p:cNvSpPr/>
          <p:nvPr/>
        </p:nvSpPr>
        <p:spPr>
          <a:xfrm>
            <a:off x="6217920" y="169164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Realtime for alerts and squad replies</a:t>
            </a:r>
            <a:endParaRPr lang="en-US" sz="1200" dirty="0"/>
          </a:p>
        </p:txBody>
      </p:sp>
      <p:sp>
        <p:nvSpPr>
          <p:cNvPr id="15" name="Arrow-113"/>
          <p:cNvSpPr/>
          <p:nvPr/>
        </p:nvSpPr>
        <p:spPr>
          <a:xfrm>
            <a:off x="7818120" y="2377440"/>
            <a:ext cx="2743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Box-114"/>
          <p:cNvSpPr/>
          <p:nvPr/>
        </p:nvSpPr>
        <p:spPr>
          <a:xfrm>
            <a:off x="8092440" y="169164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Add repo secrets, run the daily ingest</a:t>
            </a:r>
            <a:endParaRPr lang="en-US" sz="1200" dirty="0"/>
          </a:p>
        </p:txBody>
      </p:sp>
      <p:sp>
        <p:nvSpPr>
          <p:cNvPr id="17" name="Box-115"/>
          <p:cNvSpPr/>
          <p:nvPr/>
        </p:nvSpPr>
        <p:spPr>
          <a:xfrm>
            <a:off x="594360" y="402336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Delete mock files as each swap goes live</a:t>
            </a:r>
            <a:endParaRPr lang="en-US" sz="1200" dirty="0"/>
          </a:p>
        </p:txBody>
      </p:sp>
      <p:sp>
        <p:nvSpPr>
          <p:cNvPr id="18" name="Arrow-116"/>
          <p:cNvSpPr/>
          <p:nvPr/>
        </p:nvSpPr>
        <p:spPr>
          <a:xfrm>
            <a:off x="2194560" y="4709160"/>
            <a:ext cx="27432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Box-117"/>
          <p:cNvSpPr/>
          <p:nvPr/>
        </p:nvSpPr>
        <p:spPr>
          <a:xfrm>
            <a:off x="2468880" y="402336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Show stale or conflict note on cards</a:t>
            </a:r>
            <a:endParaRPr lang="en-US" sz="1200" dirty="0"/>
          </a:p>
        </p:txBody>
      </p:sp>
      <p:sp>
        <p:nvSpPr>
          <p:cNvPr id="20" name="Arrow-118"/>
          <p:cNvSpPr/>
          <p:nvPr/>
        </p:nvSpPr>
        <p:spPr>
          <a:xfrm>
            <a:off x="4069080" y="4709160"/>
            <a:ext cx="27432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Box-119"/>
          <p:cNvSpPr/>
          <p:nvPr/>
        </p:nvSpPr>
        <p:spPr>
          <a:xfrm>
            <a:off x="4343400" y="402336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Add college and headline to onboarding</a:t>
            </a:r>
            <a:endParaRPr lang="en-US" sz="1200" dirty="0"/>
          </a:p>
        </p:txBody>
      </p:sp>
      <p:sp>
        <p:nvSpPr>
          <p:cNvPr id="22" name="Arrow-120"/>
          <p:cNvSpPr/>
          <p:nvPr/>
        </p:nvSpPr>
        <p:spPr>
          <a:xfrm>
            <a:off x="5943600" y="4709160"/>
            <a:ext cx="27432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3" name="Box-121"/>
          <p:cNvSpPr/>
          <p:nvPr/>
        </p:nvSpPr>
        <p:spPr>
          <a:xfrm>
            <a:off x="6217920" y="402336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Accessibility and tablet-width pass</a:t>
            </a:r>
            <a:endParaRPr lang="en-US" sz="1200" dirty="0"/>
          </a:p>
        </p:txBody>
      </p:sp>
      <p:sp>
        <p:nvSpPr>
          <p:cNvPr id="24" name="Arrow-122"/>
          <p:cNvSpPr/>
          <p:nvPr/>
        </p:nvSpPr>
        <p:spPr>
          <a:xfrm>
            <a:off x="7818120" y="4709160"/>
            <a:ext cx="27432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5" name="Box-123"/>
          <p:cNvSpPr/>
          <p:nvPr/>
        </p:nvSpPr>
        <p:spPr>
          <a:xfrm>
            <a:off x="8092440" y="402336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Final README and demo walkthrough</a:t>
            </a:r>
            <a:endParaRPr lang="en-US" sz="1200" dirty="0"/>
          </a:p>
        </p:txBody>
      </p:sp>
      <p:sp>
        <p:nvSpPr>
          <p:cNvPr id="26" name="Arrow-124"/>
          <p:cNvSpPr/>
          <p:nvPr/>
        </p:nvSpPr>
        <p:spPr>
          <a:xfrm>
            <a:off x="1394460" y="3063240"/>
            <a:ext cx="0" cy="96012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27" name="Label-125"/>
          <p:cNvSpPr txBox="1"/>
          <p:nvPr/>
        </p:nvSpPr>
        <p:spPr>
          <a:xfrm>
            <a:off x="1485900" y="32918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mock can go</a:t>
            </a:r>
            <a:endParaRPr lang="en-US" sz="1000" dirty="0"/>
          </a:p>
        </p:txBody>
      </p:sp>
      <p:sp>
        <p:nvSpPr>
          <p:cNvPr id="28" name="Terminal-126"/>
          <p:cNvSpPr/>
          <p:nvPr/>
        </p:nvSpPr>
        <p:spPr>
          <a:xfrm>
            <a:off x="10012680" y="2926080"/>
            <a:ext cx="1691640" cy="914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Deploy and demo</a:t>
            </a:r>
            <a:endParaRPr lang="en-US" sz="1200" dirty="0"/>
          </a:p>
        </p:txBody>
      </p:sp>
      <p:sp>
        <p:nvSpPr>
          <p:cNvPr id="29" name="Arrow-127"/>
          <p:cNvSpPr/>
          <p:nvPr/>
        </p:nvSpPr>
        <p:spPr>
          <a:xfrm>
            <a:off x="9738360" y="2377440"/>
            <a:ext cx="11201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30" name="Arrow-128"/>
          <p:cNvSpPr/>
          <p:nvPr/>
        </p:nvSpPr>
        <p:spPr>
          <a:xfrm>
            <a:off x="10858500" y="2377440"/>
            <a:ext cx="0" cy="54864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1" name="Arrow-129"/>
          <p:cNvSpPr/>
          <p:nvPr/>
        </p:nvSpPr>
        <p:spPr>
          <a:xfrm>
            <a:off x="9738360" y="4709160"/>
            <a:ext cx="112014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</a:ln>
        </p:spPr>
      </p:sp>
      <p:sp>
        <p:nvSpPr>
          <p:cNvPr id="32" name="Arrow-130"/>
          <p:cNvSpPr/>
          <p:nvPr/>
        </p:nvSpPr>
        <p:spPr>
          <a:xfrm flipV="1">
            <a:off x="10858500" y="3840480"/>
            <a:ext cx="0" cy="86868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3" name="Label-131"/>
          <p:cNvSpPr txBox="1"/>
          <p:nvPr/>
        </p:nvSpPr>
        <p:spPr>
          <a:xfrm>
            <a:off x="457200" y="589788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Hosting choice is still open. Nexus never applies for the student and never reads private LinkedIn data.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xus Plan">
  <a:themeElements>
    <a:clrScheme name="Nexus Plan">
      <a:dk1>
        <a:srgbClr val="0F172A"/>
      </a:dk1>
      <a:lt1>
        <a:srgbClr val="FFFFFF"/>
      </a:lt1>
      <a:dk2>
        <a:srgbClr val="1E1B4B"/>
      </a:dk2>
      <a:lt2>
        <a:srgbClr val="F1F5F9"/>
      </a:lt2>
      <a:accent1>
        <a:srgbClr val="4F46E5"/>
      </a:accent1>
      <a:accent2>
        <a:srgbClr val="059669"/>
      </a:accent2>
      <a:accent3>
        <a:srgbClr val="D97706"/>
      </a:accent3>
      <a:accent4>
        <a:srgbClr val="0891B2"/>
      </a:accent4>
      <a:accent5>
        <a:srgbClr val="E11D48"/>
      </a:accent5>
      <a:accent6>
        <a:srgbClr val="64748B"/>
      </a:accent6>
      <a:hlink>
        <a:srgbClr val="4F46E5"/>
      </a:hlink>
      <a:folHlink>
        <a:srgbClr val="64748B"/>
      </a:folHlink>
    </a:clrScheme>
    <a:fontScheme name="Nexus Pla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- Implementation Plan Flowchart</dc:title>
  <dc:subject>PptxGenJS Presentation</dc:subject>
  <dc:creator>Team TechiZens</dc:creator>
  <cp:lastModifiedBy>Team TechiZens</cp:lastModifiedBy>
  <cp:revision>1</cp:revision>
  <dcterms:created xsi:type="dcterms:W3CDTF">2026-10-09T12:56:09Z</dcterms:created>
  <dcterms:modified xsi:type="dcterms:W3CDTF">2026-10-09T12:56:09Z</dcterms:modified>
</cp:coreProperties>
</file>